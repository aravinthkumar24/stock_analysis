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43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1C3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88952" cy="914400"/>
          </a:xfrm>
          <a:prstGeom prst="rect">
            <a:avLst/>
          </a:prstGeom>
          <a:solidFill>
            <a:srgbClr val="0096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000" b="1">
                <a:solidFill>
                  <a:srgbClr val="FFFFFF"/>
                </a:solidFill>
              </a:defRPr>
            </a:pPr>
            <a:r>
              <a:t>Data-Driven Stock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FFFFFF"/>
                </a:solidFill>
              </a:defRPr>
            </a:pPr>
            <a:r>
              <a:t>Organizing, Cleaning &amp; Visualizing Market Trends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78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Skills Takeaway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47120" cy="5120640"/>
          </a:xfrm>
          <a:prstGeom prst="rect">
            <a:avLst/>
          </a:prstGeom>
          <a:solidFill>
            <a:srgbClr val="EBEB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328895" cy="22159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lvl="1">
              <a:defRPr sz="2400">
                <a:solidFill>
                  <a:srgbClr val="081C3A"/>
                </a:solidFill>
              </a:defRPr>
            </a:pPr>
            <a:r>
              <a:rPr dirty="0"/>
              <a:t>• Pandas, Python, Power BI, </a:t>
            </a:r>
            <a:r>
              <a:rPr dirty="0" err="1"/>
              <a:t>Streamlit</a:t>
            </a:r>
            <a:endParaRPr dirty="0"/>
          </a:p>
          <a:p>
            <a:pPr lvl="1">
              <a:defRPr sz="2400">
                <a:solidFill>
                  <a:srgbClr val="081C3A"/>
                </a:solidFill>
              </a:defRPr>
            </a:pPr>
            <a:r>
              <a:rPr dirty="0"/>
              <a:t>• Statistics</a:t>
            </a:r>
          </a:p>
          <a:p>
            <a:pPr lvl="1">
              <a:defRPr sz="2400">
                <a:solidFill>
                  <a:srgbClr val="081C3A"/>
                </a:solidFill>
              </a:defRPr>
            </a:pPr>
            <a:r>
              <a:rPr dirty="0"/>
              <a:t>• Data Cleaning &amp; Organization</a:t>
            </a:r>
          </a:p>
          <a:p>
            <a:pPr lvl="1">
              <a:defRPr sz="2400">
                <a:solidFill>
                  <a:srgbClr val="081C3A"/>
                </a:solidFill>
              </a:defRPr>
            </a:pPr>
            <a:r>
              <a:rPr dirty="0"/>
              <a:t>• Data Visualization Techniques</a:t>
            </a:r>
          </a:p>
          <a:p>
            <a:pPr lvl="1">
              <a:defRPr sz="2400">
                <a:solidFill>
                  <a:srgbClr val="081C3A"/>
                </a:solidFill>
              </a:defRPr>
            </a:pPr>
            <a:r>
              <a:rPr dirty="0"/>
              <a:t>• Finance &amp; Market Analytics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78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47120" cy="5120640"/>
          </a:xfrm>
          <a:prstGeom prst="rect">
            <a:avLst/>
          </a:prstGeom>
          <a:solidFill>
            <a:srgbClr val="EBEB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lvl="1">
              <a:defRPr sz="2400">
                <a:solidFill>
                  <a:srgbClr val="081C3A"/>
                </a:solidFill>
              </a:defRPr>
            </a:pPr>
            <a:r>
              <a:t>• Analyze Nifty 50 daily stock data</a:t>
            </a:r>
          </a:p>
          <a:p>
            <a:pPr lvl="1">
              <a:defRPr sz="2400">
                <a:solidFill>
                  <a:srgbClr val="081C3A"/>
                </a:solidFill>
              </a:defRPr>
            </a:pPr>
            <a:r>
              <a:t>• Generate year-long performance insights</a:t>
            </a:r>
          </a:p>
          <a:p>
            <a:pPr lvl="1">
              <a:defRPr sz="2400">
                <a:solidFill>
                  <a:srgbClr val="081C3A"/>
                </a:solidFill>
              </a:defRPr>
            </a:pPr>
            <a:r>
              <a:t>• Identify top gainers &amp; losers</a:t>
            </a:r>
          </a:p>
          <a:p>
            <a:pPr lvl="1">
              <a:defRPr sz="2400">
                <a:solidFill>
                  <a:srgbClr val="081C3A"/>
                </a:solidFill>
              </a:defRPr>
            </a:pPr>
            <a:r>
              <a:t>• Create interactive analytics dashboards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78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Business Use Cases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47120" cy="5120640"/>
          </a:xfrm>
          <a:prstGeom prst="rect">
            <a:avLst/>
          </a:prstGeom>
          <a:solidFill>
            <a:srgbClr val="EBEB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lvl="1">
              <a:defRPr sz="2400">
                <a:solidFill>
                  <a:srgbClr val="081C3A"/>
                </a:solidFill>
              </a:defRPr>
            </a:pPr>
            <a:r>
              <a:t>• Market performance summary</a:t>
            </a:r>
          </a:p>
          <a:p>
            <a:pPr lvl="1">
              <a:defRPr sz="2400">
                <a:solidFill>
                  <a:srgbClr val="081C3A"/>
                </a:solidFill>
              </a:defRPr>
            </a:pPr>
            <a:r>
              <a:t>• Stock ranking insights</a:t>
            </a:r>
          </a:p>
          <a:p>
            <a:pPr lvl="1">
              <a:defRPr sz="2400">
                <a:solidFill>
                  <a:srgbClr val="081C3A"/>
                </a:solidFill>
              </a:defRPr>
            </a:pPr>
            <a:r>
              <a:t>• Investment decision support</a:t>
            </a:r>
          </a:p>
          <a:p>
            <a:pPr lvl="1">
              <a:defRPr sz="2400">
                <a:solidFill>
                  <a:srgbClr val="081C3A"/>
                </a:solidFill>
              </a:defRPr>
            </a:pPr>
            <a:r>
              <a:t>• Volatility &amp; consistency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78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Approach – Data Extraction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47120" cy="5120640"/>
          </a:xfrm>
          <a:prstGeom prst="rect">
            <a:avLst/>
          </a:prstGeom>
          <a:solidFill>
            <a:srgbClr val="EBEB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lvl="1">
              <a:defRPr sz="2400">
                <a:solidFill>
                  <a:srgbClr val="081C3A"/>
                </a:solidFill>
              </a:defRPr>
            </a:pPr>
            <a:r>
              <a:t>• YAML-based raw dataset</a:t>
            </a:r>
          </a:p>
          <a:p>
            <a:pPr lvl="1">
              <a:defRPr sz="2400">
                <a:solidFill>
                  <a:srgbClr val="081C3A"/>
                </a:solidFill>
              </a:defRPr>
            </a:pPr>
            <a:r>
              <a:t>• Monthly → Daily folders</a:t>
            </a:r>
          </a:p>
          <a:p>
            <a:pPr lvl="1">
              <a:defRPr sz="2400">
                <a:solidFill>
                  <a:srgbClr val="081C3A"/>
                </a:solidFill>
              </a:defRPr>
            </a:pPr>
            <a:r>
              <a:t>• Transform YAML → CSV</a:t>
            </a:r>
          </a:p>
          <a:p>
            <a:pPr lvl="1">
              <a:defRPr sz="2400">
                <a:solidFill>
                  <a:srgbClr val="081C3A"/>
                </a:solidFill>
              </a:defRPr>
            </a:pPr>
            <a:r>
              <a:t>• Create 50 symbol-wise files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78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Analysis 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47120" cy="5120640"/>
          </a:xfrm>
          <a:prstGeom prst="rect">
            <a:avLst/>
          </a:prstGeom>
          <a:solidFill>
            <a:srgbClr val="EBEB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lvl="1">
              <a:defRPr sz="2400">
                <a:solidFill>
                  <a:srgbClr val="081C3A"/>
                </a:solidFill>
              </a:defRPr>
            </a:pPr>
            <a:r>
              <a:t>• Top gainers &amp; losers</a:t>
            </a:r>
          </a:p>
          <a:p>
            <a:pPr lvl="1">
              <a:defRPr sz="2400">
                <a:solidFill>
                  <a:srgbClr val="081C3A"/>
                </a:solidFill>
              </a:defRPr>
            </a:pPr>
            <a:r>
              <a:t>• Market summary metrics</a:t>
            </a:r>
          </a:p>
          <a:p>
            <a:pPr lvl="1">
              <a:defRPr sz="2400">
                <a:solidFill>
                  <a:srgbClr val="081C3A"/>
                </a:solidFill>
              </a:defRPr>
            </a:pPr>
            <a:r>
              <a:t>• Volatility visualization</a:t>
            </a:r>
          </a:p>
          <a:p>
            <a:pPr lvl="1">
              <a:defRPr sz="2400">
                <a:solidFill>
                  <a:srgbClr val="081C3A"/>
                </a:solidFill>
              </a:defRPr>
            </a:pPr>
            <a:r>
              <a:t>• Cumulative return trends</a:t>
            </a:r>
          </a:p>
          <a:p>
            <a:pPr lvl="1">
              <a:defRPr sz="2400">
                <a:solidFill>
                  <a:srgbClr val="081C3A"/>
                </a:solidFill>
              </a:defRPr>
            </a:pPr>
            <a:r>
              <a:t>• Sector performance</a:t>
            </a:r>
          </a:p>
          <a:p>
            <a:pPr lvl="1">
              <a:defRPr sz="2400">
                <a:solidFill>
                  <a:srgbClr val="081C3A"/>
                </a:solidFill>
              </a:defRPr>
            </a:pPr>
            <a:r>
              <a:t>• Correlation heatmap</a:t>
            </a:r>
          </a:p>
          <a:p>
            <a:pPr lvl="1">
              <a:defRPr sz="2400">
                <a:solidFill>
                  <a:srgbClr val="081C3A"/>
                </a:solidFill>
              </a:defRPr>
            </a:pPr>
            <a:r>
              <a:t>• Monthly performance ranking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78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Volatility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47120" cy="5120640"/>
          </a:xfrm>
          <a:prstGeom prst="rect">
            <a:avLst/>
          </a:prstGeom>
          <a:solidFill>
            <a:srgbClr val="EBEB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lvl="1">
              <a:defRPr sz="2400">
                <a:solidFill>
                  <a:srgbClr val="081C3A"/>
                </a:solidFill>
              </a:defRPr>
            </a:pPr>
            <a:r>
              <a:t>• Compute daily returns</a:t>
            </a:r>
          </a:p>
          <a:p>
            <a:pPr lvl="1">
              <a:defRPr sz="2400">
                <a:solidFill>
                  <a:srgbClr val="081C3A"/>
                </a:solidFill>
              </a:defRPr>
            </a:pPr>
            <a:r>
              <a:t>• Calculate standard deviation</a:t>
            </a:r>
          </a:p>
          <a:p>
            <a:pPr lvl="1">
              <a:defRPr sz="2400">
                <a:solidFill>
                  <a:srgbClr val="081C3A"/>
                </a:solidFill>
              </a:defRPr>
            </a:pPr>
            <a:r>
              <a:t>• Rank most volatile stocks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78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Cumulative Return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47120" cy="5120640"/>
          </a:xfrm>
          <a:prstGeom prst="rect">
            <a:avLst/>
          </a:prstGeom>
          <a:solidFill>
            <a:srgbClr val="EBEB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lvl="1">
              <a:defRPr sz="2400">
                <a:solidFill>
                  <a:srgbClr val="081C3A"/>
                </a:solidFill>
              </a:defRPr>
            </a:pPr>
            <a:r>
              <a:t>• Compute cumulative growth</a:t>
            </a:r>
          </a:p>
          <a:p>
            <a:pPr lvl="1">
              <a:defRPr sz="2400">
                <a:solidFill>
                  <a:srgbClr val="081C3A"/>
                </a:solidFill>
              </a:defRPr>
            </a:pPr>
            <a:r>
              <a:t>• Compare top 5 strong performers</a:t>
            </a:r>
          </a:p>
          <a:p>
            <a:pPr lvl="1">
              <a:defRPr sz="2400">
                <a:solidFill>
                  <a:srgbClr val="081C3A"/>
                </a:solidFill>
              </a:defRPr>
            </a:pPr>
            <a:r>
              <a:t>• Trend observation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78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Sector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47120" cy="5120640"/>
          </a:xfrm>
          <a:prstGeom prst="rect">
            <a:avLst/>
          </a:prstGeom>
          <a:solidFill>
            <a:srgbClr val="EBEB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lvl="1">
              <a:defRPr sz="2400">
                <a:solidFill>
                  <a:srgbClr val="081C3A"/>
                </a:solidFill>
              </a:defRPr>
            </a:pPr>
            <a:r>
              <a:t>• Map stocks to sectors</a:t>
            </a:r>
          </a:p>
          <a:p>
            <a:pPr lvl="1">
              <a:defRPr sz="2400">
                <a:solidFill>
                  <a:srgbClr val="081C3A"/>
                </a:solidFill>
              </a:defRPr>
            </a:pPr>
            <a:r>
              <a:t>• Compute avg yearly return</a:t>
            </a:r>
          </a:p>
          <a:p>
            <a:pPr lvl="1">
              <a:defRPr sz="2400">
                <a:solidFill>
                  <a:srgbClr val="081C3A"/>
                </a:solidFill>
              </a:defRPr>
            </a:pPr>
            <a:r>
              <a:t>• Visualize sector ranking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78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Correlation Heatmap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47120" cy="5120640"/>
          </a:xfrm>
          <a:prstGeom prst="rect">
            <a:avLst/>
          </a:prstGeom>
          <a:solidFill>
            <a:srgbClr val="EBEB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lvl="1">
              <a:defRPr sz="2400">
                <a:solidFill>
                  <a:srgbClr val="081C3A"/>
                </a:solidFill>
              </a:defRPr>
            </a:pPr>
            <a:r>
              <a:t>• Analyze movement relationships</a:t>
            </a:r>
          </a:p>
          <a:p>
            <a:pPr lvl="1">
              <a:defRPr sz="2400">
                <a:solidFill>
                  <a:srgbClr val="081C3A"/>
                </a:solidFill>
              </a:defRPr>
            </a:pPr>
            <a:r>
              <a:t>• Correlation matrix</a:t>
            </a:r>
          </a:p>
          <a:p>
            <a:pPr lvl="1">
              <a:defRPr sz="2400">
                <a:solidFill>
                  <a:srgbClr val="081C3A"/>
                </a:solidFill>
              </a:defRPr>
            </a:pPr>
            <a:r>
              <a:t>• Heatmap visualization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78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Monthly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47120" cy="5120640"/>
          </a:xfrm>
          <a:prstGeom prst="rect">
            <a:avLst/>
          </a:prstGeom>
          <a:solidFill>
            <a:srgbClr val="EBEB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lvl="1">
              <a:defRPr sz="2400">
                <a:solidFill>
                  <a:srgbClr val="081C3A"/>
                </a:solidFill>
              </a:defRPr>
            </a:pPr>
            <a:r>
              <a:t>• Month grouping</a:t>
            </a:r>
          </a:p>
          <a:p>
            <a:pPr lvl="1">
              <a:defRPr sz="2400">
                <a:solidFill>
                  <a:srgbClr val="081C3A"/>
                </a:solidFill>
              </a:defRPr>
            </a:pPr>
            <a:r>
              <a:t>• Monthly return calculation</a:t>
            </a:r>
          </a:p>
          <a:p>
            <a:pPr lvl="1">
              <a:defRPr sz="2400">
                <a:solidFill>
                  <a:srgbClr val="081C3A"/>
                </a:solidFill>
              </a:defRPr>
            </a:pPr>
            <a:r>
              <a:t>• Top 5 gainers &amp; losers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78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47120" cy="5120640"/>
          </a:xfrm>
          <a:prstGeom prst="rect">
            <a:avLst/>
          </a:prstGeom>
          <a:solidFill>
            <a:srgbClr val="EBEB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lvl="1">
              <a:defRPr sz="2400">
                <a:solidFill>
                  <a:srgbClr val="081C3A"/>
                </a:solidFill>
              </a:defRPr>
            </a:pPr>
            <a:r>
              <a:t>• Full dashboard system created</a:t>
            </a:r>
          </a:p>
          <a:p>
            <a:pPr lvl="1">
              <a:defRPr sz="2400">
                <a:solidFill>
                  <a:srgbClr val="081C3A"/>
                </a:solidFill>
              </a:defRPr>
            </a:pPr>
            <a:r>
              <a:t>• Insights on stock behavior</a:t>
            </a:r>
          </a:p>
          <a:p>
            <a:pPr lvl="1">
              <a:defRPr sz="2400">
                <a:solidFill>
                  <a:srgbClr val="081C3A"/>
                </a:solidFill>
              </a:defRPr>
            </a:pPr>
            <a:r>
              <a:t>• Trend &amp; risk patterns identified</a:t>
            </a:r>
          </a:p>
          <a:p>
            <a:pPr lvl="1">
              <a:defRPr sz="2400">
                <a:solidFill>
                  <a:srgbClr val="081C3A"/>
                </a:solidFill>
              </a:defRPr>
            </a:pPr>
            <a:r>
              <a:t>• Sector-level performance discovered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78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Technical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47120" cy="5120640"/>
          </a:xfrm>
          <a:prstGeom prst="rect">
            <a:avLst/>
          </a:prstGeom>
          <a:solidFill>
            <a:srgbClr val="EBEB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251677" cy="18466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lvl="1">
              <a:defRPr sz="2400">
                <a:solidFill>
                  <a:srgbClr val="081C3A"/>
                </a:solidFill>
              </a:defRPr>
            </a:pPr>
            <a:r>
              <a:rPr dirty="0"/>
              <a:t>• Python, Pandas, Matplotlib</a:t>
            </a:r>
          </a:p>
          <a:p>
            <a:pPr lvl="1">
              <a:defRPr sz="2400">
                <a:solidFill>
                  <a:srgbClr val="081C3A"/>
                </a:solidFill>
              </a:defRPr>
            </a:pPr>
            <a:r>
              <a:rPr dirty="0"/>
              <a:t>• </a:t>
            </a:r>
            <a:r>
              <a:rPr dirty="0" err="1"/>
              <a:t>Streamlit</a:t>
            </a:r>
            <a:r>
              <a:rPr dirty="0"/>
              <a:t>, Power BI</a:t>
            </a:r>
          </a:p>
          <a:p>
            <a:pPr lvl="1">
              <a:defRPr sz="2400">
                <a:solidFill>
                  <a:srgbClr val="081C3A"/>
                </a:solidFill>
              </a:defRPr>
            </a:pPr>
            <a:r>
              <a:rPr dirty="0"/>
              <a:t>• MySQL</a:t>
            </a:r>
          </a:p>
          <a:p>
            <a:pPr lvl="1">
              <a:defRPr sz="2400">
                <a:solidFill>
                  <a:srgbClr val="081C3A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78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Deliverables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17295"/>
            <a:ext cx="11247120" cy="5120640"/>
          </a:xfrm>
          <a:prstGeom prst="rect">
            <a:avLst/>
          </a:prstGeom>
          <a:solidFill>
            <a:srgbClr val="EBEB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3369962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2400">
                <a:solidFill>
                  <a:srgbClr val="081C3A"/>
                </a:solidFill>
              </a:defRPr>
            </a:pPr>
            <a:r>
              <a:rPr dirty="0"/>
              <a:t>• Python ETL scripts</a:t>
            </a:r>
          </a:p>
          <a:p>
            <a:pPr lvl="1">
              <a:defRPr sz="2400">
                <a:solidFill>
                  <a:srgbClr val="081C3A"/>
                </a:solidFill>
              </a:defRPr>
            </a:pPr>
            <a:r>
              <a:rPr dirty="0"/>
              <a:t>• Power BI dashboard</a:t>
            </a:r>
          </a:p>
          <a:p>
            <a:pPr lvl="1">
              <a:defRPr sz="2400">
                <a:solidFill>
                  <a:srgbClr val="081C3A"/>
                </a:solidFill>
              </a:defRPr>
            </a:pPr>
            <a:r>
              <a:rPr dirty="0"/>
              <a:t>• </a:t>
            </a:r>
            <a:r>
              <a:rPr dirty="0" err="1"/>
              <a:t>Streamlit</a:t>
            </a:r>
            <a:r>
              <a:rPr dirty="0"/>
              <a:t> app</a:t>
            </a:r>
          </a:p>
          <a:p>
            <a:pPr lvl="1">
              <a:defRPr sz="2400">
                <a:solidFill>
                  <a:srgbClr val="081C3A"/>
                </a:solidFill>
              </a:defRPr>
            </a:pPr>
            <a:r>
              <a:rPr dirty="0"/>
              <a:t>• Documentation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78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Guidelines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8245"/>
            <a:ext cx="11247120" cy="5120640"/>
          </a:xfrm>
          <a:prstGeom prst="rect">
            <a:avLst/>
          </a:prstGeom>
          <a:solidFill>
            <a:srgbClr val="EBEB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1020" y="1371600"/>
            <a:ext cx="3900940" cy="1477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lvl="1">
              <a:defRPr sz="2400">
                <a:solidFill>
                  <a:srgbClr val="081C3A"/>
                </a:solidFill>
              </a:defRPr>
            </a:pPr>
            <a:r>
              <a:rPr dirty="0"/>
              <a:t>• Coding standards</a:t>
            </a:r>
          </a:p>
          <a:p>
            <a:pPr lvl="1">
              <a:defRPr sz="2400">
                <a:solidFill>
                  <a:srgbClr val="081C3A"/>
                </a:solidFill>
              </a:defRPr>
            </a:pPr>
            <a:r>
              <a:rPr dirty="0"/>
              <a:t>• Data accuracy validation</a:t>
            </a:r>
          </a:p>
          <a:p>
            <a:pPr lvl="1">
              <a:defRPr sz="2400">
                <a:solidFill>
                  <a:srgbClr val="081C3A"/>
                </a:solidFill>
              </a:defRPr>
            </a:pPr>
            <a:r>
              <a:rPr dirty="0"/>
              <a:t>• Clear documentation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268</Words>
  <Application>Microsoft Office PowerPoint</Application>
  <PresentationFormat>On-screen Show (4:3)</PresentationFormat>
  <Paragraphs>82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HP</cp:lastModifiedBy>
  <cp:revision>3</cp:revision>
  <dcterms:created xsi:type="dcterms:W3CDTF">2013-01-27T09:14:16Z</dcterms:created>
  <dcterms:modified xsi:type="dcterms:W3CDTF">2025-12-04T05:55:24Z</dcterms:modified>
  <cp:category/>
</cp:coreProperties>
</file>